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914400"/>
            <a:ext cx="960120" cy="-347472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464040" y="566928"/>
            <a:ext cx="914400" cy="484632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378440" y="1051560"/>
            <a:ext cx="914400" cy="-411480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462772" y="873252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2892" y="525780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292" y="1010412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19688" y="566928"/>
            <a:ext cx="146304" cy="146304"/>
          </a:xfrm>
          <a:prstGeom prst="ellipse">
            <a:avLst/>
          </a:prstGeom>
          <a:solidFill>
            <a:srgbClr val="D9A54B"/>
          </a:solidFill>
          <a:ln w="12700">
            <a:solidFill>
              <a:srgbClr val="D9A5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KOGNIVERA HACKATHON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9692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Submission  ·  Problem Statement PS-04  ·  Dynamic Tour Packages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" y="214884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100" kern="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WAYPOINT</a:t>
            </a:r>
            <a:endParaRPr lang="en-US" sz="8800" dirty="0"/>
          </a:p>
        </p:txBody>
      </p:sp>
      <p:sp>
        <p:nvSpPr>
          <p:cNvPr id="15" name="Shape 13"/>
          <p:cNvSpPr/>
          <p:nvPr/>
        </p:nvSpPr>
        <p:spPr>
          <a:xfrm>
            <a:off x="822960" y="3493008"/>
            <a:ext cx="1005840" cy="0"/>
          </a:xfrm>
          <a:prstGeom prst="line">
            <a:avLst/>
          </a:prstGeom>
          <a:noFill/>
          <a:ln w="38100">
            <a:solidFill>
              <a:srgbClr val="D9A5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 Travel Concierge for PackagePro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“Trust, not prettiness, wins.” An agent that shows its plan before acting, calls real tools, and is structurally incapable of spending past the budget you set — because the guardrail lives in code, not in a prompt.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3246120" cy="0"/>
          </a:xfrm>
          <a:prstGeom prst="line">
            <a:avLst/>
          </a:prstGeom>
          <a:noFill/>
          <a:ln w="15875">
            <a:solidFill>
              <a:srgbClr val="D9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852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" y="6053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RNG Gods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79392" y="5742432"/>
            <a:ext cx="3246120" cy="0"/>
          </a:xfrm>
          <a:prstGeom prst="line">
            <a:avLst/>
          </a:prstGeom>
          <a:noFill/>
          <a:ln w="15875">
            <a:solidFill>
              <a:srgbClr val="2631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5852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79392" y="6053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&amp; Tourism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35824" y="5742432"/>
            <a:ext cx="3246120" cy="0"/>
          </a:xfrm>
          <a:prstGeom prst="line">
            <a:avLst/>
          </a:prstGeom>
          <a:noFill/>
          <a:ln w="15875">
            <a:solidFill>
              <a:srgbClr val="2631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35824" y="5852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35824" y="6053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September 2026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7283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29" name="Shape 27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0" name="Shape 28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3" name="Shape 31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  01/17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· TEAM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Roster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members, one mission: ship a working trust guarantee in 24 hours.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5440680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9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Shashwat Goyal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39572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scope, demo flow, and the 09:00 stop-building call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1828800"/>
            <a:ext cx="5440680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029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068312" y="20482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Siddhartha Singhal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68312" y="239572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LEAD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91072" y="28803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state machine, budget guard, DB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5440680" cy="0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61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34440" y="43799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Ninad Bhagwat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472744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LEAD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52120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UI, live cost ledger, negotiation gate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91072" y="4160520"/>
            <a:ext cx="5440680" cy="0"/>
          </a:xfrm>
          <a:prstGeom prst="line">
            <a:avLst/>
          </a:prstGeom>
          <a:noFill/>
          <a:ln w="31750">
            <a:solidFill>
              <a:srgbClr val="D958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4361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068312" y="43799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Naman Kumar Agrawal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68312" y="472744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INTEGRATION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91072" y="52120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Prompting, guide matching, price explainability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142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33" name="Shape 31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 02/17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UNDERSTANDING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Travel Industry Has a Trust Problem With AI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78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822960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27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travelers currently trust AI to book travel fully on their behalf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travel tools compete on prettier itineraries. Travelers fear hidden costs, silent auto-bookings, and opaque decisions.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886200" y="1783080"/>
            <a:ext cx="0" cy="4572000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7830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PS-04 SPECIFICALLY ASKS FOR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0520" y="207568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PackagePro asks for 60 curated tour packages, built from 420 individually swappable components, made dynamic — travelers customize, swap, reprice in real time, match language preferences, and attach local guides, all without the package losing coherence or the traveler losing control of budget.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3310128"/>
            <a:ext cx="758952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42900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WE'RE FILLING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36850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tour package that reacts to the traveler, not the other way around. Swap the hotel — the price updates live. Want a Tamil-speaking heritage guide on Day 3? The system filters, checks availability, reprices, and stays under budget — or explains honestly why it can't.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4160520" y="4828032"/>
            <a:ext cx="7589520" cy="1298448"/>
          </a:xfrm>
          <a:prstGeom prst="roundRect">
            <a:avLst>
              <a:gd name="adj" fmla="val 3521"/>
            </a:avLst>
          </a:prstGeom>
          <a:solidFill>
            <a:srgbClr val="17130A"/>
          </a:solidFill>
          <a:ln w="12700">
            <a:solidFill>
              <a:srgbClr val="7A5D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497433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THESIS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16552" y="521208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not prettiness, wins. An agent that shows its plan before acting, calls real tools, and is structurally incapable of overspending — the guardrail is enforced in code, not by asking the model nicely.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001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26" name="Shape 24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8" name="Shape 26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9" name="Shape 27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0" name="Shape 28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1" name="Shape 29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3" name="Shape 31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  03/17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 in 24 Hours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features, scoped tight. Every item maps directly to the PS-04 requirement or the trust thesis.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1700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component swap &amp; live repricing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480560" y="17007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57200" y="2188159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21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" y="2243023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budget cap enforcement (code, not prompt)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480560" y="2243023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TRUST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57200" y="2730398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944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278526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Plan-before-act visible timeline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4480560" y="278526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TRUST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57200" y="3272638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66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9536" y="332750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User-driven selection (no auto-booking)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4480560" y="332750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TRUST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457200" y="3814877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788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" y="3869741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cost ledger vs. budget cap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4480560" y="3869741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57200" y="4357116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21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9536" y="44119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Confidence-scored recommendations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4480560" y="44119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57200" y="4899355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633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9536" y="4954219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4-option negotiation, not flat refusal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4480560" y="4954219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DIFFERENTIATOR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608076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83096" y="1700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guide matching (lang / spec / availability)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10104120" y="17007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PS-04 SPECIFIC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080760" y="2188159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22521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83096" y="2243023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Language-preference filtering (BCP-47)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10104120" y="2243023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PS-04 SPECIFIC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6080760" y="2730398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27944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83096" y="278526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gate before booking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10104120" y="278526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TRUST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6080760" y="3272638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3366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83096" y="332750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trace / reasoning feed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10104120" y="332750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POLISH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6080760" y="3814877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38788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83096" y="3869741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Resumable session state (SQLite → Postgres)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10104120" y="3869741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6080760" y="4357116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4421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483096" y="44119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UI — Hindi + Tamil + English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10104120" y="44119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6080760" y="4899355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49633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483096" y="4954219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to provided PS-04.db (28,103 rows)</a:t>
            </a:r>
            <a:endParaRPr lang="en-US" sz="1060" dirty="0"/>
          </a:p>
        </p:txBody>
      </p:sp>
      <p:sp>
        <p:nvSpPr>
          <p:cNvPr id="63" name="Text 61"/>
          <p:cNvSpPr/>
          <p:nvPr/>
        </p:nvSpPr>
        <p:spPr>
          <a:xfrm>
            <a:off x="10104120" y="4954219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5897880" y="1691640"/>
            <a:ext cx="0" cy="3619195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7" name="Shape 65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8" name="Shape 66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9" name="Shape 67"/>
          <p:cNvSpPr/>
          <p:nvPr/>
        </p:nvSpPr>
        <p:spPr>
          <a:xfrm>
            <a:off x="531860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70" name="Shape 68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1" name="Shape 69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2" name="Shape 70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3" name="Shape 71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4" name="Shape 72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5" name="Shape 73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6" name="Shape 74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7" name="Shape 75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8" name="Shape 76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79" name="Shape 77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80" name="Shape 78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81" name="Shape 79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82" name="Shape 80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83" name="Text 81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· IN   04/17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Deliberately Leaving Out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 list is where judgement shows. Every cut is commodity plumbing or a differentiator that doesn't fit 24 hours.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" y="1682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Amadeus / Hotelbeds APIs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9293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data is faster &amp; more reliable for a 24h demo; USE_REAL_* flags prove we can go live without code changes.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44852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62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" y="23088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payment 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25557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confirm gate is the trust feature — payment is commodity plumbing, mocked behind one endpoint.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626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" y="29352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 constraint solving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31821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optimization is valuable but scope-creep; the heuristic works for the demo.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97580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890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86384" y="35615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preference memory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380847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users table + embedding store; cold-start from provided data is sufficient.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23944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153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86384" y="41879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budget splitting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44348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Per-traveler sub-caps are nice-to-have, not core to the PS-04 requirement.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17099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09944" y="1682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price-drop rebooking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9944" y="19293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worker — a Week 4 feature, not a 24-hour feature.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2244852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3362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409944" y="23088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narration (TTS)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25557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polish, not core trust or a PS-04 requirement.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871216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9626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09944" y="29352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Mobile-responsive layout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9944" y="31821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layout works on desktop/tablet; sub-700px is polish.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0760" y="3497580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5890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409944" y="35615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 / AR / VR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9944" y="380847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an XR statement — no device declaration needed.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4123944"/>
            <a:ext cx="5257800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1691640"/>
            <a:ext cx="0" cy="2779776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46719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52" name="Shape 50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4" name="Shape 52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9" name="Shape 57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0" name="Shape 58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Shape 59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2" name="Shape 60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3" name="Shape 61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4" name="Text 62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· OUT   05/17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JOURNEY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From the Traveler's Seat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651760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01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118104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Origin, destination, dates, travelers, and a budget cap — deliberately tight, to demo negotiation.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13532" y="1737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27832" y="1691640"/>
            <a:ext cx="2651760" cy="0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819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27832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02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227832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+ Places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27832" y="3118104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cards with confidence badges (left); live cost ledger &amp; nearby places (right); agent trace below.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84164" y="1737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98464" y="1691640"/>
            <a:ext cx="2651760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1819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98464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998464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+ Negotiate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98464" y="3118104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cards update the ledger. Over budget? A Negotiation Gate offers 4 structured trade-offs.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54796" y="17373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69096" y="1691640"/>
            <a:ext cx="2651760" cy="0"/>
          </a:xfrm>
          <a:prstGeom prst="line">
            <a:avLst/>
          </a:prstGeom>
          <a:noFill/>
          <a:ln w="31750">
            <a:solidFill>
              <a:srgbClr val="D958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69096" y="18196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769096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04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769096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769096" y="3118104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cart: flight + hotel + total + remaining budget. Nothing books without an explicit click.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937760"/>
            <a:ext cx="11274552" cy="1280160"/>
          </a:xfrm>
          <a:prstGeom prst="roundRect">
            <a:avLst>
              <a:gd name="adj" fmla="val 3571"/>
            </a:avLst>
          </a:prstGeom>
          <a:solidFill>
            <a:srgbClr val="17130A"/>
          </a:solidFill>
          <a:ln w="12700">
            <a:solidFill>
              <a:srgbClr val="7A5D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074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TRUST MOMENT — THE NEGOTIATION GATE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flat “no,” an over-budget selection offers: approve a bounded overage · swap for a cheaper alternative · remove the item · raise the trip's budget cap. The AI works with the traveler, never against them — and it never silently overspends.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561578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2" name="Shape 40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JOURNEY   06/17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Where the AI Sits, Where the Data Sits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11274552" cy="749808"/>
          </a:xfrm>
          <a:prstGeom prst="roundRect">
            <a:avLst>
              <a:gd name="adj" fmla="val 6098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— React 18 + Vite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IntakeForm · FlightPicker · HotelPicker · PlanTimeline · CostLedger · AgentTraceFeed · NegotiationGate · CartConfirm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089904" y="2231136"/>
            <a:ext cx="0" cy="201168"/>
          </a:xfrm>
          <a:prstGeom prst="line">
            <a:avLst/>
          </a:prstGeom>
          <a:noFill/>
          <a:ln w="19050">
            <a:solidFill>
              <a:srgbClr val="D9A54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261104" y="2432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/ JSON  —  /api/* → :8000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1274552" cy="3154680"/>
          </a:xfrm>
          <a:prstGeom prst="roundRect">
            <a:avLst>
              <a:gd name="adj" fmla="val 1449"/>
            </a:avLst>
          </a:prstGeom>
          <a:solidFill>
            <a:srgbClr val="141C2E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43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— FastAPI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35808"/>
            <a:ext cx="5074920" cy="1298448"/>
          </a:xfrm>
          <a:prstGeom prst="roundRect">
            <a:avLst>
              <a:gd name="adj" fmla="val 2465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118104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STATE MACHINE — LangGraph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877824" y="3355848"/>
            <a:ext cx="47823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 → plan → search → PAUSE (user picks)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budget_check → search → PAUSE (user picks)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propose_cart → PAUSE (confirm) → done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node appends to the live trace.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5943600" y="3035808"/>
            <a:ext cx="5148072" cy="1298448"/>
          </a:xfrm>
          <a:prstGeom prst="roundRect">
            <a:avLst>
              <a:gd name="adj" fmla="val 2465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311810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GUARD — hard cap, in code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089904" y="3355848"/>
            <a:ext cx="4855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commits a cost past the cap.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→ 4 negotiation options.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decision written to an audit trail.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an if-statement, not a prompt.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731520" y="4498848"/>
            <a:ext cx="3319272" cy="1097280"/>
          </a:xfrm>
          <a:prstGeom prst="roundRect">
            <a:avLst>
              <a:gd name="adj" fmla="val 2917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58114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CLIENT (router)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77824" y="481888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(default)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/ Anthropic (swap-in)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GLM-5.2 / Nemotron-3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4187952" y="4498848"/>
            <a:ext cx="3319272" cy="1097280"/>
          </a:xfrm>
          <a:prstGeom prst="roundRect">
            <a:avLst>
              <a:gd name="adj" fmla="val 2917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4256" y="4581144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(mock + real)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4334256" y="4818888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search_flights / search_hotels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search_nearby_places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check_budget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USE_REAL_* flag pattern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7635240" y="4498848"/>
            <a:ext cx="3456432" cy="1097280"/>
          </a:xfrm>
          <a:prstGeom prst="roundRect">
            <a:avLst>
              <a:gd name="adj" fmla="val 2917"/>
            </a:avLst>
          </a:prstGeom>
          <a:solidFill>
            <a:srgbClr val="1A2338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81544" y="4581144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7781544" y="48188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(dev) → Postgres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state as JSON blob</a:t>
            </a:r>
            <a:endParaRPr lang="en-US" sz="77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7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PS-04.db for package data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089904" y="5852160"/>
            <a:ext cx="0" cy="182880"/>
          </a:xfrm>
          <a:prstGeom prst="line">
            <a:avLst/>
          </a:prstGeom>
          <a:noFill/>
          <a:ln w="19050">
            <a:solidFill>
              <a:srgbClr val="8B93A7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61081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SERVICES (all optional, all with mock fallbacks) — NVIDIA NIM · Amadeus · Hotelbeds · Google Places · ExchangeRate API · Twilio / Resend. The system degrades safely; it never crashes.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576437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1" name="Shape 39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Text 49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  07/17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DIAGRAM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State Machine — Four User-Driven Phases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7632"/>
            <a:ext cx="2542032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Search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fields → make_plan → search_flights + search_places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008376" y="160934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82112" y="1627632"/>
            <a:ext cx="2542032" cy="0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7373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82112" y="19476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→ Budget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182112" y="2322576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picks flight → budget_check → search_hotels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733288" y="160934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07024" y="1627632"/>
            <a:ext cx="2542032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7373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07024" y="19476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→ Budget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07024" y="2322576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picks hotel → budget_check → propose_cart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458200" y="160934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31936" y="1627632"/>
            <a:ext cx="2542032" cy="0"/>
          </a:xfrm>
          <a:prstGeom prst="line">
            <a:avLst/>
          </a:prstGeom>
          <a:noFill/>
          <a:ln w="31750">
            <a:solidFill>
              <a:srgbClr val="D958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17373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31936" y="194767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31936" y="2322576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reviews cart → explicit confirm → DONE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457200" y="33101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PHASE PAUSES FOR THE HUMAN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621024"/>
            <a:ext cx="1602029" cy="237744"/>
          </a:xfrm>
          <a:prstGeom prst="rect">
            <a:avLst/>
          </a:prstGeom>
          <a:noFill/>
          <a:ln w="9525">
            <a:solidFill>
              <a:srgbClr val="6FA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SELECT_FLIGHT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1602029" cy="237744"/>
          </a:xfrm>
          <a:prstGeom prst="roundRect">
            <a:avLst>
              <a:gd name="adj" fmla="val 11538"/>
            </a:avLst>
          </a:prstGeom>
          <a:ln w="11430">
            <a:solidFill>
              <a:srgbClr val="6FA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7829" y="3621024"/>
            <a:ext cx="1536192" cy="237744"/>
          </a:xfrm>
          <a:prstGeom prst="rect">
            <a:avLst/>
          </a:prstGeom>
          <a:noFill/>
          <a:ln w="9525">
            <a:solidFill>
              <a:srgbClr val="6FA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SELECT_HOTEL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7829" y="3621024"/>
            <a:ext cx="1536192" cy="237744"/>
          </a:xfrm>
          <a:prstGeom prst="roundRect">
            <a:avLst>
              <a:gd name="adj" fmla="val 11538"/>
            </a:avLst>
          </a:prstGeom>
          <a:ln w="11430">
            <a:solidFill>
              <a:srgbClr val="6FA3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2621" y="3621024"/>
            <a:ext cx="2128723" cy="237744"/>
          </a:xfrm>
          <a:prstGeom prst="rect">
            <a:avLst/>
          </a:prstGeom>
          <a:noFill/>
          <a:ln w="9525">
            <a:solidFill>
              <a:srgbClr val="6FA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AWAITING_CONFIRMATION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52621" y="3621024"/>
            <a:ext cx="2128723" cy="237744"/>
          </a:xfrm>
          <a:prstGeom prst="roundRect">
            <a:avLst>
              <a:gd name="adj" fmla="val 11538"/>
            </a:avLst>
          </a:prstGeom>
          <a:ln w="11430">
            <a:solidFill>
              <a:srgbClr val="6FA3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24528"/>
            <a:ext cx="11274552" cy="1965960"/>
          </a:xfrm>
          <a:prstGeom prst="roundRect">
            <a:avLst>
              <a:gd name="adj" fmla="val 2326"/>
            </a:avLst>
          </a:prstGeom>
          <a:solidFill>
            <a:srgbClr val="17130A"/>
          </a:solidFill>
          <a:ln w="12700">
            <a:solidFill>
              <a:srgbClr val="7A5D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708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CHECK BRANCH — RUNS AFTER EVERY COST-ADDING STEP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" y="4709160"/>
            <a:ext cx="5120640" cy="1298448"/>
          </a:xfrm>
          <a:prstGeom prst="roundRect">
            <a:avLst>
              <a:gd name="adj" fmla="val 2465"/>
            </a:avLst>
          </a:prstGeom>
          <a:solidFill>
            <a:srgbClr val="1A2338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846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CAP 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5102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cost, update the live ledger, continue to the next search phase.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4709160"/>
            <a:ext cx="5120640" cy="1298448"/>
          </a:xfrm>
          <a:prstGeom prst="roundRect">
            <a:avLst>
              <a:gd name="adj" fmla="val 2465"/>
            </a:avLst>
          </a:prstGeom>
          <a:solidFill>
            <a:srgbClr val="1A2338"/>
          </a:solidFill>
          <a:ln w="12700">
            <a:solidFill>
              <a:srgbClr val="D958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846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CAP 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5102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commit. Return to needs_input with 4 structured negotiation options.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91296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52" name="Shape 50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9" name="Shape 57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Text 59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FLOW   08/17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 USAGE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PS-04.db — 28,103 Rows Across 21 Tables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only — we extend the provided schema, we never rename or drop a field. Two new tables of our own: sessions and an optional agent_audit_log.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691640"/>
            <a:ext cx="7022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USE 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11274552" cy="0"/>
          </a:xfrm>
          <a:prstGeom prst="line">
            <a:avLst/>
          </a:prstGeom>
          <a:noFill/>
          <a:ln w="12700">
            <a:solidFill>
              <a:srgbClr val="7A5D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75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tour_packages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291840" y="20756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709160" y="20756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 — themes, tiers, base pricing, languages_offered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32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package_components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291840" y="25328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4709160" y="25328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TABLE — swappable lines, signed price_delta, swap_group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57200" y="29626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tour_guides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291840" y="2990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4709160" y="29900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BCP-47 language tags, specializations, day rates, ratings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57200" y="34198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472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guide_availability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291840" y="34472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3,600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709160" y="34472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calendar — is_available, slots_available, peak multiplier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57200" y="38770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044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hotels / hotel_room_types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3291840" y="39044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/ 1,200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4709160" y="39044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Geo, ratings, room config, base rate, availability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57200" y="43342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61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/ user_preferences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3291840" y="43616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 / 1,200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4709160" y="43616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band, travel style, preferred_languages, guide_language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57200" y="47914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18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 / itineraries / items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3291840" y="48188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/ 803 / 8,583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4709160" y="48188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container → versioned plans → per-item cost &amp; carbon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457200" y="52486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276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price_history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3291840" y="5276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5,950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4709160" y="52760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/ occupancy / seasonality factors — explainability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457200" y="57058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7332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 / cities / currencies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3291840" y="57332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60 / 25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4709160" y="573328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BCP-47 tags, geographic + monetary reference data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57200" y="616305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4" name="Shape 52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9" name="Shape 57"/>
          <p:cNvSpPr/>
          <p:nvPr/>
        </p:nvSpPr>
        <p:spPr>
          <a:xfrm>
            <a:off x="606155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60" name="Shape 58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Shape 59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2" name="Shape 60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3" name="Shape 61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4" name="Shape 62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5" name="Shape 63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6" name="Shape 64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7" name="Shape 65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8" name="Text 66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   09/17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FEATURE SPOTLIGHT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Guard — Enforced in Code, Not in a Prompt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57200" y="192938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any cost that would push the running total over the traveler's cap. Runs after every cost-adding step.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623560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IN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7200" y="284378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numeric budget cap and real prices from the database — Decimal arithmetic, zero hallucination risk.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623560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TRIGGER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57200" y="375818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4 structured negotiation options instead of a flat refusal: approve overage, swap cheaper, remove item, raise cap.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5623560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VERIFY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57200" y="467258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test_budget_guard.py: allows within-cap spend, blocks over-cap with options, and asserts the audit trail records every decision.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" y="5257800"/>
            <a:ext cx="5623560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MEASURABLE TARGET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57200" y="558698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unauthorized overspend. 100% of over-budget scenarios return negotiation options — verifiable via guard.audit_trail().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57200" y="6172200"/>
            <a:ext cx="5623560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691640"/>
            <a:ext cx="5376672" cy="4526280"/>
          </a:xfrm>
          <a:prstGeom prst="roundRect">
            <a:avLst>
              <a:gd name="adj" fmla="val 1212"/>
            </a:avLst>
          </a:prstGeom>
          <a:solidFill>
            <a:srgbClr val="080B12"/>
          </a:solidFill>
          <a:ln w="12700">
            <a:solidFill>
              <a:srgbClr val="2631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6248" y="1874520"/>
            <a:ext cx="109728" cy="109728"/>
          </a:xfrm>
          <a:prstGeom prst="ellipse">
            <a:avLst/>
          </a:prstGeom>
          <a:solidFill>
            <a:srgbClr val="D95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775704" y="1874520"/>
            <a:ext cx="109728" cy="109728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5160" y="1874520"/>
            <a:ext cx="109728" cy="109728"/>
          </a:xfrm>
          <a:prstGeom prst="ellipse">
            <a:avLst/>
          </a:prstGeom>
          <a:solidFill>
            <a:srgbClr val="5FBF8F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181051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GUARD — DECISION LOGIC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2148840"/>
            <a:ext cx="5376672" cy="0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331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040880" y="234086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it 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2624328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7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a traveler adds a cost — a flight, a hotel, a swapped component — the guard adds it to the running total for the trip.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6629400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40880" y="320954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against the cap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493008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7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prospective total is compared to the numeric budget cap the traveler set at intake. No LLM judgement call, just arithmetic.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6629400" y="40690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040880" y="407822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outcomes, nothing in between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361688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7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can only be “within cap” or “over cap.” There is no silent third path where a cost slips through.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629400" y="5010912"/>
            <a:ext cx="4828032" cy="621792"/>
          </a:xfrm>
          <a:prstGeom prst="roundRect">
            <a:avLst>
              <a:gd name="adj" fmla="val 5147"/>
            </a:avLst>
          </a:prstGeom>
          <a:solidFill>
            <a:srgbClr val="1A2338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5010912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CAP  →  commit the cost, update the ledger, carry 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9400" y="5742432"/>
            <a:ext cx="4828032" cy="621792"/>
          </a:xfrm>
          <a:prstGeom prst="roundRect">
            <a:avLst>
              <a:gd name="adj" fmla="val 5147"/>
            </a:avLst>
          </a:prstGeom>
          <a:solidFill>
            <a:srgbClr val="1A2338"/>
          </a:solidFill>
          <a:ln w="12700">
            <a:solidFill>
              <a:srgbClr val="D958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5742432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CAP  →  nothing is committed; 4 negotiation options are returned instead.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621014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54" name="Shape 52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9" name="Shape 57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Text 59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BUDGET GUARD   10/17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 Features — Each Named, Grounded, and Verifiable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3520440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Customization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ranks swap_group alternatives against traveler preferences; repriced with Decimal(base) + Σ(Decimal(delta)).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105656" y="1719072"/>
            <a:ext cx="3520440" cy="0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05656" y="25054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Language-Aware Guide Matching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05656" y="299923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120 guides by BCP-47 language + live availability calendar + specialization; ranks and explains the match.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754112" y="1719072"/>
            <a:ext cx="3520440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54112" y="25054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Confidence-Scored Recommendations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54112" y="299923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flight, hotel, guide, and swap carries a 0–1 confidence badge — honesty over fake certainty.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5504688" cy="0"/>
          </a:xfrm>
          <a:prstGeom prst="line">
            <a:avLst/>
          </a:prstGeom>
          <a:noFill/>
          <a:ln w="31750">
            <a:solidFill>
              <a:srgbClr val="D958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02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Plan-Before-Act Transparency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4626864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step timeline renders before any search or action executes — no black-box decisions.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089904" y="4142232"/>
            <a:ext cx="5504688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42702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21424" y="4270248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Price Factors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821424" y="4626864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price_history (5,950 rows) decomposes cost into demand, occupancy, seasonality, and event factors.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1" name="Shape 29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3" name="Shape 31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873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1" name="Shape 39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FEATURES   11/17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BENEFITS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— To the Traveler and to the Business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TRAVELER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212080" cy="0"/>
          </a:xfrm>
          <a:prstGeom prst="line">
            <a:avLst/>
          </a:prstGeom>
          <a:noFill/>
          <a:ln w="19050">
            <a:solidFill>
              <a:srgbClr val="5FB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unauthorized overspend — code-enforced, not promised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— every decision explained, every cost itemized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7200" y="320954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packages — language-matched, preference-driven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57200" y="373989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Negotiation, not refusal — 4 trade-offs on every over-budget item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0" cy="2788920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91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BUSINESS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468112" cy="0"/>
          </a:xfrm>
          <a:prstGeom prst="line">
            <a:avLst/>
          </a:prstGeom>
          <a:noFill/>
          <a:ln w="19050">
            <a:solidFill>
              <a:srgbClr val="D9A5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48840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conversion — trust closes the 8% AI-trust gap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263640" y="2679192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support cost — explainable decisions, exportable audit trail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263640" y="3209544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inventory use — swappable components rescue sold-out slots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263640" y="3739896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B2B-ready guardrails — the same pattern enforces any business rule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MEASURABLE TARGETS WE CAN DEMONSTRATE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2651760" cy="0"/>
          </a:xfrm>
          <a:prstGeom prst="line">
            <a:avLst/>
          </a:prstGeom>
          <a:noFill/>
          <a:ln w="25400">
            <a:solidFill>
              <a:srgbClr val="D9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7200" y="5687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over-budget bookings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337560" y="5029200"/>
            <a:ext cx="2651760" cy="0"/>
          </a:xfrm>
          <a:prstGeom prst="line">
            <a:avLst/>
          </a:prstGeom>
          <a:noFill/>
          <a:ln w="25400">
            <a:solidFill>
              <a:srgbClr val="D9A5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37560" y="5687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paths / over-budget event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217920" y="5029200"/>
            <a:ext cx="2651760" cy="0"/>
          </a:xfrm>
          <a:prstGeom prst="line">
            <a:avLst/>
          </a:prstGeom>
          <a:noFill/>
          <a:ln w="25400">
            <a:solidFill>
              <a:srgbClr val="D9A5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0" y="5687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auditable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098280" y="5029200"/>
            <a:ext cx="2651760" cy="0"/>
          </a:xfrm>
          <a:prstGeom prst="line">
            <a:avLst/>
          </a:prstGeom>
          <a:noFill/>
          <a:ln w="25400">
            <a:solidFill>
              <a:srgbClr val="D9A5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098280" y="5687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on any swap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650732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8" name="Shape 46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BENEFITS   12/17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Using, and Why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331720" y="1481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0" y="14813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11274552" cy="0"/>
          </a:xfrm>
          <a:prstGeom prst="line">
            <a:avLst/>
          </a:prstGeom>
          <a:noFill/>
          <a:ln w="12700">
            <a:solidFill>
              <a:srgbClr val="7A5D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47088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331720" y="1847088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 + Vite 5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86400" y="1847088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HMR, JSX components, no Next.js overhead for a single-page flow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57200" y="231800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36292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331720" y="2336292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CSS (custom props)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486400" y="2336292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of the control-tower design system; no Tailwind needed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7200" y="2807208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25496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331720" y="2825496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(Python 3.11+)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486400" y="2825496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Async, auto OpenAPI docs, Pydantic validation on every schema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57200" y="3296412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14700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2331720" y="3314700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0.2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486400" y="3314700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state machine, built-in persistence, node-based flow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57200" y="378561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03904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2331720" y="3803904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(GLM-5.2)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486400" y="3803904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tier, 1M context, strong function-calling; $0 cost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57200" y="4274820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93108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2331720" y="4293108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BudgetGuard (Python)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486400" y="4293108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Code-enforced, unit-tested — the entire trust thesis lives here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57200" y="476402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82312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DB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2331720" y="4782312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→ Postgres (SQLAlchemy)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486400" y="4782312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Zero-setup locally, one URL change for production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57200" y="5253228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271516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DB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2331720" y="5271516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PS-04.db (provided SQLite)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486400" y="5271516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28,103 rows, indexed, conformance-validated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57200" y="5742432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760720"/>
            <a:ext cx="17373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2331720" y="5760720"/>
            <a:ext cx="30175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Amadeus · Hotelbeds · Places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486400" y="5760720"/>
            <a:ext cx="597103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optional, all with mock fallbacks — USE_REAL_* flags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6231636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9" name="Shape 57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0" name="Shape 58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Shape 59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2" name="Shape 60"/>
          <p:cNvSpPr/>
          <p:nvPr/>
        </p:nvSpPr>
        <p:spPr>
          <a:xfrm>
            <a:off x="665591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63" name="Shape 61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4" name="Shape 62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5" name="Shape 63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6" name="Shape 64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7" name="Text 65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  13/17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24-HOUR PLAN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by Hour — With Names Against the Hours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7692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27632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12–13h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627632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0" y="162763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892040" y="1627632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the one demo flow; run validate_conformance.py; load PS-04.db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89988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13–16h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189988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2189988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Frontend · AI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892040" y="2189988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DB to agent; package browser + swap UI; prompt engineering vs. NIM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457200" y="3232404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52344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16–20h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2752344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2752344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Frontend · AI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892040" y="2752344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availability + language filtering; budget guard integration; Hindi/Tamil strings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1470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20–00h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314700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3314700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892040" y="3314700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end-to-end integration test; polish the negotiation → re-plan loop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457200" y="4357116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770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00–04h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877056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86000" y="3877056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Frontend · AI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892040" y="3877056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Edge-case hardening; design polish; audit trail UI; multilingual QA</a:t>
            </a:r>
            <a:endParaRPr lang="en-US" sz="990" dirty="0"/>
          </a:p>
        </p:txBody>
      </p:sp>
      <p:sp>
        <p:nvSpPr>
          <p:cNvPr id="34" name="Shape 32"/>
          <p:cNvSpPr/>
          <p:nvPr/>
        </p:nvSpPr>
        <p:spPr>
          <a:xfrm>
            <a:off x="457200" y="4919472"/>
            <a:ext cx="112745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39412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04–08h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691640" y="4439412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86000" y="4439412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4892040" y="4439412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— fix whatever broke; sleep in rotation if possible</a:t>
            </a:r>
            <a:endParaRPr lang="en-US" sz="990" dirty="0"/>
          </a:p>
        </p:txBody>
      </p:sp>
      <p:sp>
        <p:nvSpPr>
          <p:cNvPr id="39" name="Shape 37"/>
          <p:cNvSpPr/>
          <p:nvPr/>
        </p:nvSpPr>
        <p:spPr>
          <a:xfrm>
            <a:off x="457200" y="5481828"/>
            <a:ext cx="11274552" cy="0"/>
          </a:xfrm>
          <a:prstGeom prst="line">
            <a:avLst/>
          </a:prstGeom>
          <a:noFill/>
          <a:ln w="15875">
            <a:solidFill>
              <a:srgbClr val="7A5D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001768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08–12h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91640" y="5001768"/>
            <a:ext cx="548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286000" y="5001768"/>
            <a:ext cx="2560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FA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4892040" y="5001768"/>
            <a:ext cx="6702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run → STOP building at 09:00 → rehearse demo twice → hard stop, submit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4" name="Shape 52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Shape 54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7" name="Shape 55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8" name="Shape 56"/>
          <p:cNvSpPr/>
          <p:nvPr/>
        </p:nvSpPr>
        <p:spPr>
          <a:xfrm>
            <a:off x="680450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59" name="Shape 57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0" name="Shape 58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1" name="Shape 59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62" name="Text 60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24-HOUR PLAN   14/17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&amp; FALLBACKS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Most Likely to Go Wrong, and What We Do Instead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0" cy="704088"/>
          </a:xfrm>
          <a:prstGeom prst="line">
            <a:avLst/>
          </a:prstGeom>
          <a:noFill/>
          <a:ln w="31750">
            <a:solidFill>
              <a:srgbClr val="D958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API down or rate-limited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1075334" cy="237744"/>
          </a:xfrm>
          <a:prstGeom prst="rect">
            <a:avLst/>
          </a:prstGeom>
          <a:noFill/>
          <a:ln w="9525">
            <a:solidFill>
              <a:srgbClr val="D958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5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/ 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1075334" cy="237744"/>
          </a:xfrm>
          <a:prstGeom prst="roundRect">
            <a:avLst>
              <a:gd name="adj" fmla="val 11538"/>
            </a:avLst>
          </a:prstGeom>
          <a:ln w="11430">
            <a:solidFill>
              <a:srgbClr val="D95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73352"/>
            <a:ext cx="7068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“cheapest first” fallback; trace shows the graceful degrade live — demoed as a feature.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0320"/>
            <a:ext cx="0" cy="704088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Wi-Fi fails mid-demo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1207008" cy="237744"/>
          </a:xfrm>
          <a:prstGeom prst="rect">
            <a:avLst/>
          </a:prstGeom>
          <a:noFill/>
          <a:ln w="9525">
            <a:solidFill>
              <a:srgbClr val="D9A5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/ CRITICAL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1207008" cy="237744"/>
          </a:xfrm>
          <a:prstGeom prst="roundRect">
            <a:avLst>
              <a:gd name="adj" fmla="val 11538"/>
            </a:avLst>
          </a:prstGeom>
          <a:ln w="11430">
            <a:solidFill>
              <a:srgbClr val="D9A5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542032"/>
            <a:ext cx="7068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Pre-warmed calls, a recorded backup video, and an offline-capable mock-data flow (SQLite is local).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29000"/>
            <a:ext cx="0" cy="704088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PS-04.db integration runs long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207008" cy="237744"/>
          </a:xfrm>
          <a:prstGeom prst="rect">
            <a:avLst/>
          </a:prstGeom>
          <a:noFill/>
          <a:ln w="9525">
            <a:solidFill>
              <a:srgbClr val="6FA3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/ MEDIUM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1207008" cy="237744"/>
          </a:xfrm>
          <a:prstGeom prst="roundRect">
            <a:avLst>
              <a:gd name="adj" fmla="val 11538"/>
            </a:avLst>
          </a:prstGeom>
          <a:ln w="11430">
            <a:solidFill>
              <a:srgbClr val="6FA3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410712"/>
            <a:ext cx="7068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mock flight/hotel data already exists; DB queries demoed separately if needed.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97680"/>
            <a:ext cx="0" cy="704088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79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guard Decimal edge case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1009498" cy="237744"/>
          </a:xfrm>
          <a:prstGeom prst="rect">
            <a:avLst/>
          </a:prstGeom>
          <a:noFill/>
          <a:ln w="9525">
            <a:solidFill>
              <a:srgbClr val="5FBF8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/ MEDIUM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1009498" cy="237744"/>
          </a:xfrm>
          <a:prstGeom prst="roundRect">
            <a:avLst>
              <a:gd name="adj" fmla="val 11538"/>
            </a:avLst>
          </a:prstGeom>
          <a:ln w="11430">
            <a:solidFill>
              <a:srgbClr val="5FBF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279392"/>
            <a:ext cx="7068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cover critical paths; the guard never commits over-cap by design.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038344"/>
            <a:ext cx="11274552" cy="0"/>
          </a:xfrm>
          <a:prstGeom prst="line">
            <a:avLst/>
          </a:prstGeom>
          <a:noFill/>
          <a:ln w="7620">
            <a:solidFill>
              <a:srgbClr val="1C25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166360"/>
            <a:ext cx="0" cy="704088"/>
          </a:xfrm>
          <a:prstGeom prst="line">
            <a:avLst/>
          </a:prstGeom>
          <a:noFill/>
          <a:ln w="31750">
            <a:solidFill>
              <a:srgbClr val="8B9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148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content not ready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09498" cy="237744"/>
          </a:xfrm>
          <a:prstGeom prst="rect">
            <a:avLst/>
          </a:prstGeom>
          <a:noFill/>
          <a:ln w="9525">
            <a:solidFill>
              <a:srgbClr val="8B93A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/ LOW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5440680"/>
            <a:ext cx="1009498" cy="237744"/>
          </a:xfrm>
          <a:prstGeom prst="roundRect">
            <a:avLst>
              <a:gd name="adj" fmla="val 11538"/>
            </a:avLst>
          </a:prstGeom>
          <a:ln w="11430">
            <a:solidFill>
              <a:srgbClr val="8B93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5148072"/>
            <a:ext cx="7068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viable: key UI strings in Hindi + Tamil + English; DB content is already BCP-47 tagged.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8" name="Shape 46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9" name="Shape 47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0" name="Shape 48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1" name="Shape 49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2" name="Shape 50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3" name="Shape 51"/>
          <p:cNvSpPr/>
          <p:nvPr/>
        </p:nvSpPr>
        <p:spPr>
          <a:xfrm>
            <a:off x="695309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54" name="Shape 52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5" name="Shape 53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  15/17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560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631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81328" y="4023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MULTILINGUAL APPROACH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63040" y="658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Languages, Grounded in BCP-47 Data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481328" y="1325880"/>
            <a:ext cx="502920" cy="0"/>
          </a:xfrm>
          <a:prstGeom prst="line">
            <a:avLst/>
          </a:prstGeom>
          <a:noFill/>
          <a:ln w="285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3611880" cy="0"/>
          </a:xfrm>
          <a:prstGeom prst="line">
            <a:avLst/>
          </a:prstGeom>
          <a:noFill/>
          <a:ln w="31750">
            <a:solidFill>
              <a:srgbClr val="5FB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en-IN · Latn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UI, all interface content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8536" y="1691640"/>
            <a:ext cx="3611880" cy="0"/>
          </a:xfrm>
          <a:prstGeom prst="line">
            <a:avLst/>
          </a:prstGeom>
          <a:noFill/>
          <a:ln w="31750">
            <a:solidFill>
              <a:srgbClr val="D9A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88536" y="22219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· Deva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88536" y="25877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strings, package names/descriptions, guide bios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19872" y="1691640"/>
            <a:ext cx="3611880" cy="0"/>
          </a:xfrm>
          <a:prstGeom prst="line">
            <a:avLst/>
          </a:prstGeom>
          <a:noFill/>
          <a:ln w="31750">
            <a:solidFill>
              <a:srgbClr val="6FA3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19872" y="22219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A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· Taml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25877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strings, guide matching, package filtering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1274552" cy="0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HANDLE 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languages_offered and tour_guides.languages are comma-separated BCP-47 lists — filtering is a plain SQL LIKE. UI strings live in one JSON translation file {en, hi, ta}. The languages.rtl flag drives conditional dir="rtl" for scripts that need it.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11274552" cy="1371600"/>
          </a:xfrm>
          <a:prstGeom prst="roundRect">
            <a:avLst>
              <a:gd name="adj" fmla="val 3333"/>
            </a:avLst>
          </a:prstGeom>
          <a:solidFill>
            <a:srgbClr val="17130A"/>
          </a:solidFill>
          <a:ln w="12700">
            <a:solidFill>
              <a:srgbClr val="7A5D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474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JUDGES CARE ABOUT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529437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“Multilingual support matters — at least one Indian language, wherever it is natural to your statement.” We demonstrate Hindi package filtering, Tamil guide matching, and a language toggle — the data already supports 26 languages; we make 3 visible.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29" name="Shape 27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0" name="Shape 28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1" name="Shape 29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3" name="Shape 31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710168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4" name="Shape 42"/>
          <p:cNvSpPr/>
          <p:nvPr/>
        </p:nvSpPr>
        <p:spPr>
          <a:xfrm>
            <a:off x="72658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MULTILINGUAL   16/17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3291840"/>
            <a:ext cx="6766560" cy="6766560"/>
          </a:xfrm>
          <a:prstGeom prst="ellipse">
            <a:avLst/>
          </a:prstGeom>
          <a:solidFill>
            <a:srgbClr val="D9A54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663440"/>
            <a:ext cx="6035040" cy="6035040"/>
          </a:xfrm>
          <a:prstGeom prst="ellipse">
            <a:avLst/>
          </a:prstGeom>
          <a:solidFill>
            <a:srgbClr val="6FA3D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8288"/>
            <a:ext cx="12188952" cy="0"/>
          </a:xfrm>
          <a:prstGeom prst="line">
            <a:avLst/>
          </a:prstGeom>
          <a:noFill/>
          <a:ln w="9525">
            <a:solidFill>
              <a:srgbClr val="1C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417320"/>
            <a:ext cx="868680" cy="-457200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555480" y="960120"/>
            <a:ext cx="868680" cy="502920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424160" y="1463040"/>
            <a:ext cx="822960" cy="-594360"/>
          </a:xfrm>
          <a:prstGeom prst="line">
            <a:avLst/>
          </a:prstGeom>
          <a:noFill/>
          <a:ln w="15875">
            <a:solidFill>
              <a:srgbClr val="7A5D2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45652" y="1376172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14332" y="918972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3012" y="1421892"/>
            <a:ext cx="82296" cy="82296"/>
          </a:xfrm>
          <a:prstGeom prst="ellipse">
            <a:avLst/>
          </a:prstGeom>
          <a:solidFill>
            <a:srgbClr val="0A0E18"/>
          </a:solidFill>
          <a:ln w="15875">
            <a:solidFill>
              <a:srgbClr val="D9A5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73968" y="795528"/>
            <a:ext cx="146304" cy="146304"/>
          </a:xfrm>
          <a:prstGeom prst="ellipse">
            <a:avLst/>
          </a:prstGeom>
          <a:solidFill>
            <a:srgbClr val="D9A54B"/>
          </a:solidFill>
          <a:ln w="12700">
            <a:solidFill>
              <a:srgbClr val="D9A5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WAYPOINT WINS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Build Beats a Polished Deck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822960" y="1783080"/>
            <a:ext cx="1005840" cy="0"/>
          </a:xfrm>
          <a:prstGeom prst="line">
            <a:avLst/>
          </a:prstGeom>
          <a:noFill/>
          <a:ln w="38100">
            <a:solidFill>
              <a:srgbClr val="D9A5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1305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 scope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IN, 9 OUT — every cut has a reason a judge can check in one line.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98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28803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feature is designed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63040" y="3172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data, retrieved how, prompted how, grounded in what, verified how — not “we'll use an LLM.”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6484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6301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 is code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39227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budget_guard.py, unit-tested. We show the test passing live, not a slide claiming trust.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982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437997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degrades safely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463040" y="4672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down, Wi-Fi down — the flow still runs on mock data and a rehearsed backup video.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5440680"/>
            <a:ext cx="10515600" cy="0"/>
          </a:xfrm>
          <a:prstGeom prst="line">
            <a:avLst/>
          </a:prstGeom>
          <a:noFill/>
          <a:ln w="12700">
            <a:solidFill>
              <a:srgbClr val="2631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5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Agentic Travel Concierge for PS-04 PackagePro  ·  RNG Gods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WAYPOINT</a:t>
            </a:r>
            <a:pPr algn="l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PS-04 PACKAGEPRO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883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50369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3" name="Shape 31"/>
          <p:cNvSpPr/>
          <p:nvPr/>
        </p:nvSpPr>
        <p:spPr>
          <a:xfrm>
            <a:off x="51855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41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27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6" name="Shape 34"/>
          <p:cNvSpPr/>
          <p:nvPr/>
        </p:nvSpPr>
        <p:spPr>
          <a:xfrm>
            <a:off x="56313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7" name="Shape 35"/>
          <p:cNvSpPr/>
          <p:nvPr/>
        </p:nvSpPr>
        <p:spPr>
          <a:xfrm>
            <a:off x="577992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2851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39" name="Shape 37"/>
          <p:cNvSpPr/>
          <p:nvPr/>
        </p:nvSpPr>
        <p:spPr>
          <a:xfrm>
            <a:off x="607710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0" name="Shape 38"/>
          <p:cNvSpPr/>
          <p:nvPr/>
        </p:nvSpPr>
        <p:spPr>
          <a:xfrm>
            <a:off x="622569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1" name="Shape 39"/>
          <p:cNvSpPr/>
          <p:nvPr/>
        </p:nvSpPr>
        <p:spPr>
          <a:xfrm>
            <a:off x="637428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2287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146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4" name="Shape 42"/>
          <p:cNvSpPr/>
          <p:nvPr/>
        </p:nvSpPr>
        <p:spPr>
          <a:xfrm>
            <a:off x="682005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864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7232" y="6694322"/>
            <a:ext cx="25603" cy="25603"/>
          </a:xfrm>
          <a:prstGeom prst="ellipse">
            <a:avLst/>
          </a:prstGeom>
          <a:solidFill>
            <a:srgbClr val="4A5270"/>
          </a:solidFill>
          <a:ln/>
        </p:spPr>
      </p:sp>
      <p:sp>
        <p:nvSpPr>
          <p:cNvPr id="47" name="Shape 45"/>
          <p:cNvSpPr/>
          <p:nvPr/>
        </p:nvSpPr>
        <p:spPr>
          <a:xfrm>
            <a:off x="7250278" y="6678778"/>
            <a:ext cx="56693" cy="56693"/>
          </a:xfrm>
          <a:prstGeom prst="ellipse">
            <a:avLst/>
          </a:prstGeom>
          <a:solidFill>
            <a:srgbClr val="D9A54B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65836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  17/17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 — PS-04 PackagePro Design Submission</dc:title>
  <dc:subject>PptxGenJS Presentation</dc:subject>
  <dc:creator>Waypoint Team</dc:creator>
  <cp:lastModifiedBy>Waypoint Team</cp:lastModifiedBy>
  <cp:revision>1</cp:revision>
  <dcterms:created xsi:type="dcterms:W3CDTF">2026-09-02T09:14:11Z</dcterms:created>
  <dcterms:modified xsi:type="dcterms:W3CDTF">2026-09-02T09:14:11Z</dcterms:modified>
</cp:coreProperties>
</file>